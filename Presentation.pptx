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7" r:id="rId11"/>
    <p:sldId id="265" r:id="rId12"/>
    <p:sldId id="268" r:id="rId13"/>
    <p:sldId id="266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56A726C-1753-4BC1-9FA2-F8F92F72FAE7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3"/>
            <p14:sldId id="264"/>
            <p14:sldId id="267"/>
            <p14:sldId id="265"/>
            <p14:sldId id="268"/>
            <p14:sldId id="266"/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74FB-ED39-F53D-E45E-6DD35ABAE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7A231-3A29-CDAB-A0EF-6E0806D25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5F0E9-F73A-8E84-63E1-7B9A6DA3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C51AF-1272-7BBF-0148-42C59547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DCA97-0D0A-CBD3-DE8A-3A701243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939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5FF6-DE43-3D83-D162-9BD775BEC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98C05-52E7-9B8D-1AFA-CF7F81CB8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6999F-9861-41AB-0ECB-E231DD13D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98D3B-8186-9288-2724-2FAAE1FD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24A59-4B91-A7B6-4E5D-9E9B9AC7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37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0768-FB03-6D60-64BE-A91F00B9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78386-3D3D-7C43-1F53-99459E31E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FBC2-9777-47AF-7BFB-880A0F35D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0C8EC-74DF-8EB1-9326-5251A6BD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41361-49CD-874B-B514-1ABEAC57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14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710D-D71F-48CB-F39E-F026B281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ED5B-149C-F89B-4FC7-0EFE1F17D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963BB-0924-1605-05EF-2E9B0760D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1DAC3-E91F-BBF2-4DCE-ADCA2B8D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7ADC1-2707-8917-AAB8-20C12857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4FA16-DDEF-CBD2-A3FC-75B00639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46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B188-9D01-F4D4-6513-6B1AB35D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A6CFF-F7AD-25AA-CD88-DC845C3A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1ACE9-B752-903C-8184-8DD64ADA3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5BAD0C-7EA4-79DA-7BCD-EA20C46FC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5348B7-3442-6180-B3ED-FFDFCAF21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C34D0-9080-7037-3BF3-DFFF52A99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7498E-EFBE-B55A-9AD8-0ECF0C90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0008F-D0E5-5F5E-0952-7530B8AD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76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52F8-1A25-0428-9BF5-EC1E1701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C774A-432D-7484-51EE-F12F895C5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8AA2E-AB95-20A2-CCE3-DB42D9ED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E67F-4E0B-8D42-9E95-3E2B0652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36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E6623-B11A-D2E5-E22D-88532C0D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6724A-41C7-9D7A-6523-11F232B89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E1C4C-51B9-B1BE-4952-52E776B3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71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BE3F-5982-A1FA-C0FC-561F0186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FA1AF-5C05-C6B6-A9AD-6BBC556D7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210D8-D4E6-A744-4C50-84FFA2C82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83671-E19F-A871-74E0-538F87DB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571EE-7B9E-F92F-3746-0DAA08D0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2B60A-AA07-0C3F-B629-9AD26F35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91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1E08-4536-C2B3-CCD9-2B006326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768064-D906-A94B-4F44-3D166A8D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F00A7-F9BB-AE45-84EB-D1C0557DE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CC87E-6BE4-74E5-02E6-8671EE9F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59B5-6B9E-55F5-653E-70BB4E50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8DA79-6A3E-571D-1EF0-0A829BD4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0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ACCE8-138F-07AA-B86E-CFD82BC3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4E00A-72EA-E855-9A5C-81C4B2FCC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2D6B-AC26-1474-A020-55D76586F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C16CF-E4C8-EE4E-1566-56D11F96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12A5D-7392-84B4-BC35-AD4F5B3E3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35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6D5F9-4534-5C79-3D36-9F42A8C55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BD82A-0C4D-1142-375E-8C18EEEFC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81C0-29A1-DFBC-754A-6B117D18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3ECC8-30B3-ACAD-8CC1-65665577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A87BC-4433-1E16-10A0-D184EFF0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43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D401C-61BF-B263-98BC-9480B21FD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2F58E-7186-F3D3-9CE2-E2DE0405C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7ED0-9909-9CAC-5EA1-360A343C5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FA4C8-C74A-453E-A1A4-93C7485DFAA2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8FDFD-7329-9CD6-6710-15B9EDA59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F444-4160-26A2-F3CF-5407A5E8A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54996-0E79-4FA6-8E8E-AD7C29FF3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3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88AE-166A-F6D6-D539-14621BD21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1859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Modeling and Beyond: Wrist Actigraphy for Bipolar-Unipolar Differentiation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F32C9-C041-E75E-6193-2BD0BAAA6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1534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Learning Study on Mental Health Biomarkers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CSCI 5922: Deep Learning and Neural Networks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Shikha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Masurkar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 Mukesh Sharma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5F72B-07C6-ABFD-ED97-105E92DC8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20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2AA2-B9BC-A1E4-DCC3-EA44C037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5CBE-65F4-6D2C-A0C0-BF8A607A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B156A-8739-DA7F-FC96-BF144488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Results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1AA5D-EAA7-79F7-D8F3-6AE1223E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14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3E445-29D3-F917-656C-EF8E03A8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B2E3-8E34-853C-46DC-61B1AC76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89"/>
            <a:ext cx="6925056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Bipolar Disorder Go Misdiagnosed for 9.5 Years?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4395F-5A64-5EA5-D111-68B5243E6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Bipolar depression looks identical to unipolar depression clinically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present as low mood and reduced energy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Misdiagnosis leads to wrong treatment: antidepressants can worsen bipolar disorder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currently rely on patient history alone with no objective test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medical practice relies on subjective patient history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tracking (actigraphy) offers potential as objective measure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99BA5E-AD2B-9A9E-D1CE-5622DE6F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pic>
        <p:nvPicPr>
          <p:cNvPr id="1028" name="Picture 4" descr="Confused Doctor Vector Art, Icons, and ...">
            <a:extLst>
              <a:ext uri="{FF2B5EF4-FFF2-40B4-BE49-F238E27FC236}">
                <a16:creationId xmlns:a16="http://schemas.microsoft.com/office/drawing/2014/main" id="{A3DBB816-0A66-CAAE-0F11-5FDED0221D0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693" y="173186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tidepressant Medication ...">
            <a:extLst>
              <a:ext uri="{FF2B5EF4-FFF2-40B4-BE49-F238E27FC236}">
                <a16:creationId xmlns:a16="http://schemas.microsoft.com/office/drawing/2014/main" id="{29CB677A-B808-3709-9E42-FA631CEBC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6873" y="209156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 Manic Episode">
            <a:extLst>
              <a:ext uri="{FF2B5EF4-FFF2-40B4-BE49-F238E27FC236}">
                <a16:creationId xmlns:a16="http://schemas.microsoft.com/office/drawing/2014/main" id="{6240CD02-FF35-9DA2-1188-BD6022976B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731"/>
          <a:stretch>
            <a:fillRect/>
          </a:stretch>
        </p:blipFill>
        <p:spPr bwMode="auto">
          <a:xfrm>
            <a:off x="8082344" y="4184530"/>
            <a:ext cx="1997583" cy="244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39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9B932-0AAB-0C71-AD27-6BB061AC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B733-BED8-E0CB-A8FD-49463417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89"/>
            <a:ext cx="6925056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Tested This: Our Approaches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DDBBB-22EB-8A0A-09B7-41D19341C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73512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participants: 32 healthy controls, 23 with mood disorders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analysis: 8 bipolar II vs. 15 unipolar depression patients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Minute-level wrist activity data (1,440 measurements per 24 hours)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Participant-level stratified splits (prevent data leakage)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Per-participant z-score normalization (remove baseline differences)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5FDC3-BB12-8358-2D05-D1069183A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FD95D-D3A9-029B-6A33-AF18BAE2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EEE1-FC41-5185-1499-2B83DEBE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89"/>
            <a:ext cx="6925056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Tested This: Our Approaches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C042E2-DDCB-A6B3-23AE-4459508BE0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92989"/>
            <a:ext cx="10572750" cy="36166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AF5795-5FBB-6FC8-E41B-DFE57C5F5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7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EC60-2F3E-8213-D9E8-33C5E730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4F90-A4ED-3D73-6E13-0C521AD4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89"/>
            <a:ext cx="6925056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Tested This: Our Approaches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853A8-0152-59C3-4FEA-8C79C62F6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7351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Approaches Tested: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Approach: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CNN-LSTM with SMOTE balancing on full 23-patient dataset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1 (Smaller Dataset):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randomly reducing unipolar samples to exactly match bipolar count for perfectly balanced training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2 (Advanced Models):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Attention LSTM, RNN-LSTM, Ensemble voting on full feature set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3 (Comprehensive Analysis):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CNN-LSTM windows 24hr vs 48hr vs 72hr time windows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key biomarkers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Participant-level aggregation using Logistic Regression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T-tests and Mann-Whitney U tests on activity variability; Cohen's d effect size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visualizations ROC curves, confusion matrices, feature importance, statistical significance plots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4993D-7D0A-6CB5-6F8D-4A94385D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72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C6E0C-206C-65A1-FF0F-5F16E23A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47A1-C2BC-99B4-618A-26D387F8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89"/>
            <a:ext cx="6925056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Tested This: Our Approaches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5C7C8-BB1F-A697-6338-7A9CA8D04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F23C5-797E-38EB-7C0C-81C8B808E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599" y="1474854"/>
            <a:ext cx="7874802" cy="52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9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3F2E-AD28-B67D-C423-452B2678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88F0-01EF-0E60-2DDE-BD2AC76B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89"/>
            <a:ext cx="6925056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Tested This: Our Approaches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58338-01DA-33DE-B342-4C9A3403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FE52D4-91DA-0A7F-F121-DB16F8A0F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800"/>
          <a:stretch>
            <a:fillRect/>
          </a:stretch>
        </p:blipFill>
        <p:spPr>
          <a:xfrm>
            <a:off x="1501389" y="1920240"/>
            <a:ext cx="8914902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4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F613-E181-50FC-EB05-8B16FF17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9B418-8559-67A0-CB3F-77F71515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4784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Found: An Unexpected Truth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7AE3B-7F68-1783-C1A0-352437C44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88.9% accuracy but overfitting on tiny test set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practical: Simple Logistic Regression (60.9%)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added complexity but no improvement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testing: p-value = 0.893 (no significant difference)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Cohen's d = -0.060 (negligible effect size)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"When bipolar people are depressed, their activity patterns are indistinguishable from unipolar depression. The biological signal doesn't exist in wrist activity data alone."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67CDE-275B-72E2-3301-5A94D597C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52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BCA9-E748-90F3-0708-4A8AA8A5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B6DB-AC21-E9BE-24B7-4C0C37E56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4784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Found: An Unexpected Truth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C71052-1BF2-09A3-67E1-3CD4DDCEE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689" y="1825625"/>
            <a:ext cx="8560622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2FD7A1-CCC6-0F1E-07AB-2FE88BE81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8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CB173-64F4-7C21-C44B-2ECA1D1B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41D3-62BC-7736-40C0-C8C26732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4784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Found: An Unexpected Truth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ABCCE-A544-69FA-7488-4B669ADFC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CD427C-EA48-FB77-D1A1-9029F98A7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1509" y="1825625"/>
            <a:ext cx="876898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112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2073-B04F-5187-BCEE-64273B1D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9C49-E02C-0D9D-CFB8-8D279A47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4784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Found: An Unexpected Truth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24BC5-971C-AB4C-B7A4-9C6E0B46A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1BA4F6B-BD22-4CC0-5797-7264306C8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9270" y="1825625"/>
            <a:ext cx="81734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96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AE0BF-ED20-5439-253E-766C925D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0C4A-9E0E-5767-781C-CF5452EAD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34784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Found: An Unexpected Truth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E6173-14FB-E544-CA35-B395680A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81F461-A2AA-3B25-35C9-74A95937F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58548" y="1825625"/>
            <a:ext cx="42749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4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AC76-00A0-0BD8-AACC-D0954C68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9F76-1CBB-C6BE-62CD-886276FDB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E9C1DA-68CD-F876-225B-6203C66E5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BD0751-CCED-1E5A-0706-A987B3BBF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Key Lessons: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Size Matters: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statistically significant differences can be too tiny (Cohen's d = -0.06) to be clinically useful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Matters: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48-hour windows worked best; 24hr overfits, 72hr underfits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 Wins: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5-feature logistic regression (60.9%) beat complex models with thousands of parameters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what doesn't work is just as important as finding what does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negative result guides future research toward better biomarkers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tracking alone cannot diagnose bipolar from unipolar depression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391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89953-4A20-9828-6292-11B76C65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A3C5-4385-1082-38EC-966DF935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What's Next?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F2EFD-42BE-3FA1-3929-5A9816BA9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3CEF1A-09AE-2CA9-F1FF-13D203D8E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Future Directions:</a:t>
            </a:r>
            <a:endParaRPr lang="en-US" dirty="0"/>
          </a:p>
          <a:p>
            <a:r>
              <a:rPr lang="en-US" dirty="0"/>
              <a:t>Need 100+ patients per group for reliable training</a:t>
            </a:r>
          </a:p>
          <a:p>
            <a:r>
              <a:rPr lang="en-US" dirty="0"/>
              <a:t>Integrate sleep data (polysomnography) and heart rate variability</a:t>
            </a:r>
          </a:p>
          <a:p>
            <a:r>
              <a:rPr lang="en-US" dirty="0"/>
              <a:t>Multi-modal biomarkers (activity + sleep + heart rate + mood) needed</a:t>
            </a:r>
          </a:p>
          <a:p>
            <a:r>
              <a:rPr lang="en-US" dirty="0"/>
              <a:t>Wearables excel at monitoring treatment response over time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Clinical Implications:</a:t>
            </a:r>
            <a:endParaRPr lang="en-US" dirty="0"/>
          </a:p>
          <a:p>
            <a:r>
              <a:rPr lang="en-US" dirty="0"/>
              <a:t>Activity tracking can't diagnose but can monitor treatment efficacy</a:t>
            </a:r>
          </a:p>
          <a:p>
            <a:r>
              <a:rPr lang="en-US" dirty="0"/>
              <a:t>Should be part of multi-modal approach, not standalone diagnostic tool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595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036A-E623-B5A5-95E1-875F1680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2F35-AB50-CB99-3800-8594DFCAC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08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3F060-20BB-297C-5061-2FD0D796C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835" y="-9144"/>
            <a:ext cx="4254310" cy="126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2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595</Words>
  <Application>Microsoft Office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Sequence Modeling and Beyond: Wrist Actigraphy for Bipolar-Unipolar Differentiation</vt:lpstr>
      <vt:lpstr>Contents</vt:lpstr>
      <vt:lpstr>Why Does Bipolar Disorder Go Misdiagnosed for 9.5 Years?</vt:lpstr>
      <vt:lpstr>How We Tested This: Our Approaches</vt:lpstr>
      <vt:lpstr>How We Tested This: Our Approaches</vt:lpstr>
      <vt:lpstr>How We Tested This: Our Approaches</vt:lpstr>
      <vt:lpstr>How We Tested This: Our Approaches</vt:lpstr>
      <vt:lpstr>How We Tested This: Our Approaches</vt:lpstr>
      <vt:lpstr>What We Found: An Unexpected Truth</vt:lpstr>
      <vt:lpstr>What We Found: An Unexpected Truth</vt:lpstr>
      <vt:lpstr>What We Found: An Unexpected Truth</vt:lpstr>
      <vt:lpstr>What We Found: An Unexpected Truth</vt:lpstr>
      <vt:lpstr>What We Found: An Unexpected Truth</vt:lpstr>
      <vt:lpstr>Conclusion</vt:lpstr>
      <vt:lpstr>What's Next?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Mukesh Sharma</dc:creator>
  <cp:lastModifiedBy>Harsh Mukesh Sharma</cp:lastModifiedBy>
  <cp:revision>3</cp:revision>
  <dcterms:created xsi:type="dcterms:W3CDTF">2026-04-19T08:35:54Z</dcterms:created>
  <dcterms:modified xsi:type="dcterms:W3CDTF">2026-04-19T10:10:40Z</dcterms:modified>
</cp:coreProperties>
</file>